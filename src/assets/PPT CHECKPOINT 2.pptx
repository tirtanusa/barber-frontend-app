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bject Sans" charset="1" panose="00000300000000000000"/>
      <p:regular r:id="rId16"/>
    </p:embeddedFont>
    <p:embeddedFont>
      <p:font typeface="Object Sans Bold" charset="1" panose="00000300000000000000"/>
      <p:regular r:id="rId17"/>
    </p:embeddedFont>
    <p:embeddedFont>
      <p:font typeface="Object Sans Italics" charset="1" panose="00000300000000000000"/>
      <p:regular r:id="rId18"/>
    </p:embeddedFont>
    <p:embeddedFont>
      <p:font typeface="Poppins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9943" y="3794269"/>
            <a:ext cx="2889357" cy="5464031"/>
          </a:xfrm>
          <a:custGeom>
            <a:avLst/>
            <a:gdLst/>
            <a:ahLst/>
            <a:cxnLst/>
            <a:rect r="r" b="b" t="t" l="l"/>
            <a:pathLst>
              <a:path h="5464031" w="2889357">
                <a:moveTo>
                  <a:pt x="0" y="0"/>
                </a:moveTo>
                <a:lnTo>
                  <a:pt x="2889357" y="0"/>
                </a:lnTo>
                <a:lnTo>
                  <a:pt x="2889357" y="5464031"/>
                </a:lnTo>
                <a:lnTo>
                  <a:pt x="0" y="5464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25666"/>
            <a:ext cx="260477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Tirtanusa Kurnia A 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28700"/>
            <a:ext cx="260477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PRESENTED BY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192528" y="1039916"/>
            <a:ext cx="306677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FWD - Final Project’s 2nd Checkpoint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646924"/>
            <a:ext cx="4422401" cy="4793814"/>
          </a:xfrm>
          <a:custGeom>
            <a:avLst/>
            <a:gdLst/>
            <a:ahLst/>
            <a:cxnLst/>
            <a:rect r="r" b="b" t="t" l="l"/>
            <a:pathLst>
              <a:path h="4793814" w="4422401">
                <a:moveTo>
                  <a:pt x="0" y="0"/>
                </a:moveTo>
                <a:lnTo>
                  <a:pt x="4422401" y="0"/>
                </a:lnTo>
                <a:lnTo>
                  <a:pt x="4422401" y="4793813"/>
                </a:lnTo>
                <a:lnTo>
                  <a:pt x="0" y="4793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PROBLEM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2635366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Barber.Id merupakan platform management barbersehop berbasis web yang dibangun menggunakan ekosistem React Modern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5720366"/>
            <a:ext cx="699071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Problem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Reservasi manual, Kurangnya transparansi data, Visibilitas bisnis yang rendah.</a:t>
            </a:r>
          </a:p>
          <a:p>
            <a:pPr algn="just">
              <a:lnSpc>
                <a:spcPts val="2659"/>
              </a:lnSpc>
            </a:pP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Goal: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 Digitalisasi sistem booking, Integrasi POS, Sentralisasi manajemen admin, Implementasi modern security, Efisiensi operasional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198936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5004884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WHY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68588" y="7071617"/>
            <a:ext cx="6990712" cy="2186683"/>
            <a:chOff x="0" y="0"/>
            <a:chExt cx="1957493" cy="612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7493" cy="612301"/>
            </a:xfrm>
            <a:custGeom>
              <a:avLst/>
              <a:gdLst/>
              <a:ahLst/>
              <a:cxnLst/>
              <a:rect r="r" b="b" t="t" l="l"/>
              <a:pathLst>
                <a:path h="612301" w="1957493">
                  <a:moveTo>
                    <a:pt x="0" y="0"/>
                  </a:moveTo>
                  <a:lnTo>
                    <a:pt x="1957493" y="0"/>
                  </a:lnTo>
                  <a:lnTo>
                    <a:pt x="1957493" y="612301"/>
                  </a:lnTo>
                  <a:lnTo>
                    <a:pt x="0" y="612301"/>
                  </a:ln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57493" cy="640876"/>
            </a:xfrm>
            <a:prstGeom prst="rect">
              <a:avLst/>
            </a:prstGeom>
          </p:spPr>
          <p:txBody>
            <a:bodyPr anchor="ctr" rtlCol="false" tIns="59765" lIns="59765" bIns="59765" rIns="59765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93800" y="7304331"/>
            <a:ext cx="333025" cy="333025"/>
          </a:xfrm>
          <a:custGeom>
            <a:avLst/>
            <a:gdLst/>
            <a:ahLst/>
            <a:cxnLst/>
            <a:rect r="r" b="b" t="t" l="l"/>
            <a:pathLst>
              <a:path h="333025" w="333025">
                <a:moveTo>
                  <a:pt x="0" y="0"/>
                </a:moveTo>
                <a:lnTo>
                  <a:pt x="333025" y="0"/>
                </a:lnTo>
                <a:lnTo>
                  <a:pt x="333025" y="333024"/>
                </a:lnTo>
                <a:lnTo>
                  <a:pt x="0" y="3330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292206"/>
            <a:ext cx="4885205" cy="5269646"/>
          </a:xfrm>
          <a:custGeom>
            <a:avLst/>
            <a:gdLst/>
            <a:ahLst/>
            <a:cxnLst/>
            <a:rect r="r" b="b" t="t" l="l"/>
            <a:pathLst>
              <a:path h="5269646" w="4885205">
                <a:moveTo>
                  <a:pt x="0" y="0"/>
                </a:moveTo>
                <a:lnTo>
                  <a:pt x="4885205" y="0"/>
                </a:lnTo>
                <a:lnTo>
                  <a:pt x="4885205" y="5269646"/>
                </a:lnTo>
                <a:lnTo>
                  <a:pt x="0" y="52696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PROPOSED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588" y="2635366"/>
            <a:ext cx="6990712" cy="265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AI-Powered Customization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Adaptive lighting, soundscapes, and workspace ergonomics tailored to user preferences.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Integrated App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Users can seamlessly book pods, set preferences, and order services through a mobile platform.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Data-Driven Insights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IoT sensors collect anonymized data to optimize space utilization and user experience.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588" y="198936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KEY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28662" y="7330650"/>
            <a:ext cx="182745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53" b="true">
                <a:solidFill>
                  <a:srgbClr val="F6F4F1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How It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28662" y="7776718"/>
            <a:ext cx="6025029" cy="115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671" indent="-140336" lvl="1">
              <a:lnSpc>
                <a:spcPts val="1820"/>
              </a:lnSpc>
              <a:buFont typeface="Arial"/>
              <a:buChar char="•"/>
            </a:pPr>
            <a:r>
              <a:rPr lang="en-US" sz="1300" spc="-39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Users book their productivity pod through the app, specifying preferences like light intensity, noise levels, or sensory needs.</a:t>
            </a:r>
          </a:p>
          <a:p>
            <a:pPr algn="l" marL="280671" indent="-140336" lvl="1">
              <a:lnSpc>
                <a:spcPts val="1820"/>
              </a:lnSpc>
              <a:buFont typeface="Arial"/>
              <a:buChar char="•"/>
            </a:pPr>
            <a:r>
              <a:rPr lang="en-US" sz="1300" spc="-39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The pod adjusts settings automatically via AI algorithms and IoT integration.</a:t>
            </a:r>
          </a:p>
          <a:p>
            <a:pPr algn="l" marL="280671" indent="-140336" lvl="1">
              <a:lnSpc>
                <a:spcPts val="1820"/>
              </a:lnSpc>
              <a:buFont typeface="Arial"/>
              <a:buChar char="•"/>
            </a:pPr>
            <a:r>
              <a:rPr lang="en-US" sz="1300" spc="-39">
                <a:solidFill>
                  <a:srgbClr val="F6F4F1"/>
                </a:solidFill>
                <a:latin typeface="Object Sans"/>
                <a:ea typeface="Object Sans"/>
                <a:cs typeface="Object Sans"/>
                <a:sym typeface="Object Sans"/>
              </a:rPr>
              <a:t>On-demand ordering for food, beverages, or additional services is available through the app.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9510" y="6192966"/>
            <a:ext cx="6838497" cy="4372735"/>
          </a:xfrm>
          <a:custGeom>
            <a:avLst/>
            <a:gdLst/>
            <a:ahLst/>
            <a:cxnLst/>
            <a:rect r="r" b="b" t="t" l="l"/>
            <a:pathLst>
              <a:path h="4372735" w="6838497">
                <a:moveTo>
                  <a:pt x="0" y="0"/>
                </a:moveTo>
                <a:lnTo>
                  <a:pt x="6838497" y="0"/>
                </a:lnTo>
                <a:lnTo>
                  <a:pt x="6838497" y="4372735"/>
                </a:lnTo>
                <a:lnTo>
                  <a:pt x="0" y="4372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BENEFITS &amp;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1665178"/>
            <a:ext cx="6990712" cy="199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Revenue Growth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Increase revenue by 25% through premium pricing for personalized pod sessions.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Operational Efficiency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Optimize space usage, reducing idle time by 30%.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Customer Retention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Boost customer loyalty by offering a unique, inclusive experience.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1019175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BUSINESS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5117517"/>
            <a:ext cx="6990712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Inclusivity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Supports neurodivergent individuals and promotes mental wellness.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Sustainability</a:t>
            </a: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: Energy-efficient pods contribute to Salford’s green initiatives.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4471514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SOCIAL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588" y="7903106"/>
            <a:ext cx="6990712" cy="132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Innovation Leadership: Position Thynk as a pioneer in AI-driven workspace solutions.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Scalability: The pod model is modular, allowing future expansion to multiple locations.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588" y="725710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TECH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8397" y="5143500"/>
            <a:ext cx="5934735" cy="5362842"/>
          </a:xfrm>
          <a:custGeom>
            <a:avLst/>
            <a:gdLst/>
            <a:ahLst/>
            <a:cxnLst/>
            <a:rect r="r" b="b" t="t" l="l"/>
            <a:pathLst>
              <a:path h="5362842" w="5934735">
                <a:moveTo>
                  <a:pt x="0" y="0"/>
                </a:moveTo>
                <a:lnTo>
                  <a:pt x="5934734" y="0"/>
                </a:lnTo>
                <a:lnTo>
                  <a:pt x="5934734" y="5362842"/>
                </a:lnTo>
                <a:lnTo>
                  <a:pt x="0" y="5362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DELIVERABLES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456431" y="1034415"/>
          <a:ext cx="9802869" cy="8223885"/>
        </p:xfrm>
        <a:graphic>
          <a:graphicData uri="http://schemas.openxmlformats.org/drawingml/2006/table">
            <a:tbl>
              <a:tblPr/>
              <a:tblGrid>
                <a:gridCol w="2592044"/>
                <a:gridCol w="2693283"/>
                <a:gridCol w="2443696"/>
                <a:gridCol w="2073846"/>
              </a:tblGrid>
              <a:tr h="4805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Deliverable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Task / Activity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Owner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Target Completion Date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8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Fully Functional AI-Driven Pods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strike="noStrike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Minimum of 5 pods equipped with adaptive technology and IoT sensors.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AI Developer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8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trike="noStrike" u="non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Integrated Mobile App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strike="noStrike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Booking, customization, and ordering functionalities.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UX Designer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8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trike="noStrike" u="non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Data Insights Dashboard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strike="noStrike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Real-time analytics for management to monitor usage and optimize operations.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IOT Engineer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58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b="true" sz="1899" strike="noStrike" u="non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Training Programs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strike="noStrike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Staff training for pod maintenance and app assistance.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Customer Experience Lead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195" y="5783143"/>
            <a:ext cx="5428424" cy="4796753"/>
          </a:xfrm>
          <a:custGeom>
            <a:avLst/>
            <a:gdLst/>
            <a:ahLst/>
            <a:cxnLst/>
            <a:rect r="r" b="b" t="t" l="l"/>
            <a:pathLst>
              <a:path h="4796753" w="5428424">
                <a:moveTo>
                  <a:pt x="0" y="0"/>
                </a:moveTo>
                <a:lnTo>
                  <a:pt x="5428423" y="0"/>
                </a:lnTo>
                <a:lnTo>
                  <a:pt x="5428423" y="4796752"/>
                </a:lnTo>
                <a:lnTo>
                  <a:pt x="0" y="4796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</a:t>
            </a: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TIMELINE</a:t>
            </a:r>
          </a:p>
        </p:txBody>
      </p:sp>
      <p:sp>
        <p:nvSpPr>
          <p:cNvPr name="AutoShape 4" id="4"/>
          <p:cNvSpPr/>
          <p:nvPr/>
        </p:nvSpPr>
        <p:spPr>
          <a:xfrm>
            <a:off x="5859618" y="3661570"/>
            <a:ext cx="11399682" cy="0"/>
          </a:xfrm>
          <a:prstGeom prst="line">
            <a:avLst/>
          </a:prstGeom>
          <a:ln cap="flat" w="38100">
            <a:solidFill>
              <a:srgbClr val="292B2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" id="5"/>
          <p:cNvSpPr txBox="true"/>
          <p:nvPr/>
        </p:nvSpPr>
        <p:spPr>
          <a:xfrm rot="0">
            <a:off x="5859618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9618" y="5609736"/>
            <a:ext cx="2046584" cy="149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Finalize pod design and vendor contracts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9618" y="4779500"/>
            <a:ext cx="2046584" cy="2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0"/>
              </a:lnSpc>
            </a:pPr>
            <a:r>
              <a:rPr lang="en-US" sz="1322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(2 months)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0495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0495" y="5609736"/>
            <a:ext cx="2046584" cy="111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Build and test AI, app, and IoT systems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00495" y="4779500"/>
            <a:ext cx="2046584" cy="2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0"/>
              </a:lnSpc>
            </a:pPr>
            <a:r>
              <a:rPr lang="en-US" sz="1322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(4 months)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3533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3533" y="5609736"/>
            <a:ext cx="2046584" cy="111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Deploy pods and integrate app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43533" y="4779500"/>
            <a:ext cx="2046584" cy="2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0"/>
              </a:lnSpc>
            </a:pPr>
            <a:r>
              <a:rPr lang="en-US" sz="1322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(3 months)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686570" y="4430289"/>
            <a:ext cx="2046584" cy="38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478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PHASE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86570" y="5609736"/>
            <a:ext cx="2046584" cy="111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128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Marketing, user training, and pilot tests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86570" y="4779500"/>
            <a:ext cx="2046584" cy="22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50"/>
              </a:lnSpc>
            </a:pPr>
            <a:r>
              <a:rPr lang="en-US" sz="1322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(1 month)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9618" y="3482773"/>
            <a:ext cx="329533" cy="32953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800495" y="3482773"/>
            <a:ext cx="329533" cy="32953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39878" y="3496803"/>
            <a:ext cx="329533" cy="329533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86570" y="3482773"/>
            <a:ext cx="329533" cy="32953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2B2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260056" y="1028700"/>
          <a:ext cx="9993529" cy="8223885"/>
        </p:xfrm>
        <a:graphic>
          <a:graphicData uri="http://schemas.openxmlformats.org/drawingml/2006/table">
            <a:tbl>
              <a:tblPr/>
              <a:tblGrid>
                <a:gridCol w="3519508"/>
                <a:gridCol w="5367686"/>
                <a:gridCol w="1106335"/>
              </a:tblGrid>
              <a:tr h="569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Role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Responsibility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Object Sans Italics"/>
                          <a:ea typeface="Object Sans Italics"/>
                          <a:cs typeface="Object Sans Italics"/>
                          <a:sym typeface="Object Sans Italics"/>
                        </a:rPr>
                        <a:t>Quantity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Project Manager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Oversee timeline and deliverables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AI Developer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Develop AI algorithms for personalization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App Developer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Create and maintain the mobile platform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UX Designer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Design pod and app interfaces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IoT Engineer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Integrate sensors and hardware systems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2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Marketing Specialist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Promote the AI-driven pod model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u="none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348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Customer Experience Lead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Train staff and assist with onboarding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292B2D"/>
                          </a:solidFill>
                          <a:latin typeface="Object Sans"/>
                          <a:ea typeface="Object Sans"/>
                          <a:cs typeface="Object Sans"/>
                          <a:sym typeface="Object Sans"/>
                        </a:rPr>
                        <a:t>1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93176" y="5143500"/>
            <a:ext cx="5109274" cy="5322160"/>
          </a:xfrm>
          <a:custGeom>
            <a:avLst/>
            <a:gdLst/>
            <a:ahLst/>
            <a:cxnLst/>
            <a:rect r="r" b="b" t="t" l="l"/>
            <a:pathLst>
              <a:path h="5322160" w="5109274">
                <a:moveTo>
                  <a:pt x="0" y="0"/>
                </a:moveTo>
                <a:lnTo>
                  <a:pt x="5109274" y="0"/>
                </a:lnTo>
                <a:lnTo>
                  <a:pt x="5109274" y="5322160"/>
                </a:lnTo>
                <a:lnTo>
                  <a:pt x="0" y="532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 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TEAM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954" y="5735074"/>
            <a:ext cx="5457089" cy="4551926"/>
          </a:xfrm>
          <a:custGeom>
            <a:avLst/>
            <a:gdLst/>
            <a:ahLst/>
            <a:cxnLst/>
            <a:rect r="r" b="b" t="t" l="l"/>
            <a:pathLst>
              <a:path h="4551926" w="5457089">
                <a:moveTo>
                  <a:pt x="0" y="0"/>
                </a:moveTo>
                <a:lnTo>
                  <a:pt x="5457089" y="0"/>
                </a:lnTo>
                <a:lnTo>
                  <a:pt x="5457089" y="4551926"/>
                </a:lnTo>
                <a:lnTo>
                  <a:pt x="0" y="4551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PROJECT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RESOURCES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3658235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IoT hardware (sensors, adaptive lighting, sound systems).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Cloud infrastructure for AI and app integration.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3012232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TECHNOLOGY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68588" y="5779978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Initial investment: $150K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Breakdown: 50% for pod construction, 30% for software, 20% for marketing and training.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68588" y="5133975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FINANCIAL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68588" y="7903106"/>
            <a:ext cx="699071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Vendors for ergonomic pod furniture.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Local tech firms for software and hardware development.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8588" y="7257103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PARTNERSHIPS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292" y="5143500"/>
            <a:ext cx="6559625" cy="5891735"/>
          </a:xfrm>
          <a:custGeom>
            <a:avLst/>
            <a:gdLst/>
            <a:ahLst/>
            <a:cxnLst/>
            <a:rect r="r" b="b" t="t" l="l"/>
            <a:pathLst>
              <a:path h="5891735" w="6559625">
                <a:moveTo>
                  <a:pt x="0" y="0"/>
                </a:moveTo>
                <a:lnTo>
                  <a:pt x="6559625" y="0"/>
                </a:lnTo>
                <a:lnTo>
                  <a:pt x="6559625" y="5891735"/>
                </a:lnTo>
                <a:lnTo>
                  <a:pt x="0" y="5891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4340847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RELATED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DOCUMENTS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68588" y="8601710"/>
            <a:ext cx="6990712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Include links to meeting recordings and password</a:t>
            </a:r>
          </a:p>
          <a:p>
            <a:pPr algn="just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Add other links relevant to the project you're proposing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68588" y="7955707"/>
            <a:ext cx="69907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LIST ALL APPLICABLE LINKS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3176" y="5143500"/>
            <a:ext cx="5109274" cy="5322160"/>
          </a:xfrm>
          <a:custGeom>
            <a:avLst/>
            <a:gdLst/>
            <a:ahLst/>
            <a:cxnLst/>
            <a:rect r="r" b="b" t="t" l="l"/>
            <a:pathLst>
              <a:path h="5322160" w="5109274">
                <a:moveTo>
                  <a:pt x="0" y="0"/>
                </a:moveTo>
                <a:lnTo>
                  <a:pt x="5109274" y="0"/>
                </a:lnTo>
                <a:lnTo>
                  <a:pt x="5109274" y="5322160"/>
                </a:lnTo>
                <a:lnTo>
                  <a:pt x="0" y="5322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25648"/>
            <a:ext cx="563443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4999" spc="-249">
                <a:solidFill>
                  <a:srgbClr val="292B2D"/>
                </a:solidFill>
                <a:latin typeface="Object Sans"/>
                <a:ea typeface="Object Sans"/>
                <a:cs typeface="Object Sans"/>
                <a:sym typeface="Object Sans"/>
              </a:rPr>
              <a:t>PROPOSAL </a:t>
            </a:r>
          </a:p>
          <a:p>
            <a:pPr algn="l">
              <a:lnSpc>
                <a:spcPts val="4499"/>
              </a:lnSpc>
            </a:pPr>
            <a:r>
              <a:rPr lang="en-US" b="true" sz="4999" spc="-249">
                <a:solidFill>
                  <a:srgbClr val="292B2D"/>
                </a:solidFill>
                <a:latin typeface="Object Sans Bold"/>
                <a:ea typeface="Object Sans Bold"/>
                <a:cs typeface="Object Sans Bold"/>
                <a:sym typeface="Object Sans Bold"/>
              </a:rPr>
              <a:t>APPROVAL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733628" y="5259982"/>
          <a:ext cx="9525672" cy="3998318"/>
        </p:xfrm>
        <a:graphic>
          <a:graphicData uri="http://schemas.openxmlformats.org/drawingml/2006/table">
            <a:tbl>
              <a:tblPr/>
              <a:tblGrid>
                <a:gridCol w="2518748"/>
                <a:gridCol w="2244088"/>
                <a:gridCol w="2894912"/>
                <a:gridCol w="1867924"/>
              </a:tblGrid>
              <a:tr h="6434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Poppins Italics"/>
                          <a:ea typeface="Poppins Italics"/>
                          <a:cs typeface="Poppins Italics"/>
                          <a:sym typeface="Poppins Italics"/>
                        </a:rPr>
                        <a:t>Approver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Poppins Italics"/>
                          <a:ea typeface="Poppins Italics"/>
                          <a:cs typeface="Poppins Italics"/>
                          <a:sym typeface="Poppins Italics"/>
                        </a:rPr>
                        <a:t>Decision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Poppins Italics"/>
                          <a:ea typeface="Poppins Italics"/>
                          <a:cs typeface="Poppins Italics"/>
                          <a:sym typeface="Poppins Italics"/>
                        </a:rPr>
                        <a:t>Note(s) if any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i="true">
                          <a:solidFill>
                            <a:srgbClr val="292B2D"/>
                          </a:solidFill>
                          <a:latin typeface="Poppins Italics"/>
                          <a:ea typeface="Poppins Italics"/>
                          <a:cs typeface="Poppins Italics"/>
                          <a:sym typeface="Poppins Italics"/>
                        </a:rPr>
                        <a:t>Approval Date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8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Chiaki Sato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Yes 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8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Dani Martinez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Yes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8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Juliana Silva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Yes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292B2D"/>
                          </a:solidFill>
                          <a:latin typeface="Object Sans Bold"/>
                          <a:ea typeface="Object Sans Bold"/>
                          <a:cs typeface="Object Sans Bold"/>
                          <a:sym typeface="Object Sans Bold"/>
                        </a:rPr>
                        <a:t>Jan 31, 2030</a:t>
                      </a:r>
                      <a:endParaRPr lang="en-US" sz="1100"/>
                    </a:p>
                  </a:txBody>
                  <a:tcPr marL="95250" marR="95250" marT="95250" marB="95250" anchor="ctr">
                    <a:lnL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">
                      <a:solidFill>
                        <a:srgbClr val="292B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DAHLFakhDMA</dc:identifier>
  <dcterms:modified xsi:type="dcterms:W3CDTF">2011-08-01T06:04:30Z</dcterms:modified>
  <cp:revision>1</cp:revision>
  <dc:title>Ash Grey and Brown Modern Minimalist Tech Startup Project Proposal Presentation</dc:title>
</cp:coreProperties>
</file>